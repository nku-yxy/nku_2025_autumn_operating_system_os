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9" r:id="rId7"/>
    <p:sldId id="260" r:id="rId8"/>
    <p:sldId id="261" r:id="rId9"/>
    <p:sldId id="276" r:id="rId10"/>
    <p:sldId id="263" r:id="rId11"/>
    <p:sldId id="277" r:id="rId12"/>
    <p:sldId id="278" r:id="rId13"/>
    <p:sldId id="283" r:id="rId14"/>
    <p:sldId id="265" r:id="rId15"/>
    <p:sldId id="280" r:id="rId16"/>
    <p:sldId id="279" r:id="rId17"/>
    <p:sldId id="267" r:id="rId18"/>
    <p:sldId id="281" r:id="rId19"/>
    <p:sldId id="272" r:id="rId20"/>
    <p:sldId id="269" r:id="rId21"/>
    <p:sldId id="282" r:id="rId22"/>
    <p:sldId id="275" r:id="rId23"/>
  </p:sldIdLst>
  <p:sldSz cx="12192000" cy="6858000"/>
  <p:notesSz cx="6858000" cy="12192000"/>
  <p:embeddedFontLst>
    <p:embeddedFont>
      <p:font typeface="Calibri" panose="020F0502020204030204" charset="0"/>
      <p:regular r:id="rId27"/>
      <p:bold r:id="rId28"/>
      <p:italic r:id="rId29"/>
      <p:boldItalic r:id="rId30"/>
    </p:embeddedFont>
    <p:embeddedFont>
      <p:font typeface="等线" panose="02010600030101010101" charset="-122"/>
      <p:regular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image" Target="../media/image5.png"/><Relationship Id="rId23" Type="http://schemas.openxmlformats.org/officeDocument/2006/relationships/notesSlide" Target="../notesSlides/notesSlide2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25.xml"/><Relationship Id="rId20" Type="http://schemas.openxmlformats.org/officeDocument/2006/relationships/tags" Target="../tags/tag24.xml"/><Relationship Id="rId2" Type="http://schemas.openxmlformats.org/officeDocument/2006/relationships/image" Target="../media/image4.png"/><Relationship Id="rId19" Type="http://schemas.openxmlformats.org/officeDocument/2006/relationships/tags" Target="../tags/tag23.xml"/><Relationship Id="rId18" Type="http://schemas.openxmlformats.org/officeDocument/2006/relationships/tags" Target="../tags/tag22.xml"/><Relationship Id="rId17" Type="http://schemas.openxmlformats.org/officeDocument/2006/relationships/tags" Target="../tags/tag21.xml"/><Relationship Id="rId16" Type="http://schemas.openxmlformats.org/officeDocument/2006/relationships/tags" Target="../tags/tag20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s0.jpg"/>
          <p:cNvPicPr>
            <a:picLocks noChangeAspect="1"/>
          </p:cNvPicPr>
          <p:nvPr/>
        </p:nvPicPr>
        <p:blipFill>
          <a:blip r:embed="rId1"/>
          <a:srcRect l="2846" t="2254" r="3013" b="8961"/>
          <a:stretch>
            <a:fillRect/>
          </a:stretch>
        </p:blipFill>
        <p:spPr>
          <a:xfrm rot="21600000">
            <a:off x="0" y="-1270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38375" y="1659890"/>
            <a:ext cx="7903210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L</a:t>
            </a:r>
            <a:r>
              <a:rPr 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LFree: 无锁无日志的高可扩展页框分配器</a:t>
            </a:r>
            <a:endParaRPr lang="en-US" sz="4800" b="1" dirty="0">
              <a:solidFill>
                <a:srgbClr val="015DBB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3482975" y="4377690"/>
            <a:ext cx="2311400" cy="502920"/>
          </a:xfrm>
          <a:prstGeom prst="roundRect">
            <a:avLst>
              <a:gd name="adj" fmla="val 50000"/>
            </a:avLst>
          </a:prstGeom>
          <a:solidFill>
            <a:srgbClr val="015DBB"/>
          </a:solidFill>
        </p:spPr>
      </p:sp>
      <p:sp>
        <p:nvSpPr>
          <p:cNvPr id="5" name="Text 2"/>
          <p:cNvSpPr/>
          <p:nvPr/>
        </p:nvSpPr>
        <p:spPr>
          <a:xfrm>
            <a:off x="3582670" y="5321300"/>
            <a:ext cx="2311400" cy="502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3"/>
          <p:cNvSpPr/>
          <p:nvPr>
            <p:custDataLst>
              <p:tags r:id="rId3"/>
            </p:custDataLst>
          </p:nvPr>
        </p:nvSpPr>
        <p:spPr>
          <a:xfrm>
            <a:off x="3582670" y="5321300"/>
            <a:ext cx="238569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汇报人:</a:t>
            </a:r>
            <a:r>
              <a:rPr lang="zh-CN" alt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董丰瑞</a:t>
            </a:r>
            <a:endParaRPr lang="zh-CN" altLang="en-US" sz="20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7" name="Shape 4"/>
          <p:cNvSpPr/>
          <p:nvPr>
            <p:custDataLst>
              <p:tags r:id="rId4"/>
            </p:custDataLst>
          </p:nvPr>
        </p:nvSpPr>
        <p:spPr>
          <a:xfrm>
            <a:off x="6188075" y="4371975"/>
            <a:ext cx="2311400" cy="502920"/>
          </a:xfrm>
          <a:prstGeom prst="roundRect">
            <a:avLst>
              <a:gd name="adj" fmla="val 50000"/>
            </a:avLst>
          </a:prstGeom>
          <a:solidFill>
            <a:srgbClr val="015DBB"/>
          </a:solidFill>
        </p:spPr>
      </p:sp>
      <p:sp>
        <p:nvSpPr>
          <p:cNvPr id="8" name="Text 5"/>
          <p:cNvSpPr/>
          <p:nvPr/>
        </p:nvSpPr>
        <p:spPr>
          <a:xfrm>
            <a:off x="6146165" y="4424045"/>
            <a:ext cx="2311400" cy="502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6"/>
          <p:cNvSpPr/>
          <p:nvPr>
            <p:custDataLst>
              <p:tags r:id="rId5"/>
            </p:custDataLst>
          </p:nvPr>
        </p:nvSpPr>
        <p:spPr>
          <a:xfrm>
            <a:off x="6139815" y="4429760"/>
            <a:ext cx="238569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时间:2025/12/09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93745" y="472817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015DBB"/>
          </a:solidFill>
        </p:spPr>
      </p:sp>
      <p:sp>
        <p:nvSpPr>
          <p:cNvPr id="11" name="Text 8"/>
          <p:cNvSpPr/>
          <p:nvPr/>
        </p:nvSpPr>
        <p:spPr>
          <a:xfrm>
            <a:off x="893745" y="472817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230150" y="156968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1" descr="https://kimi-img.moonshot.cn/pub/slides/slides_tmpl/image/25-09-08-12:55:40-d2v63j5nfo2stf9dk4m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6835" y="4125595"/>
            <a:ext cx="6468110" cy="298450"/>
          </a:xfrm>
          <a:prstGeom prst="rect">
            <a:avLst/>
          </a:prstGeom>
        </p:spPr>
      </p:pic>
      <p:pic>
        <p:nvPicPr>
          <p:cNvPr id="15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7">
            <a:alphaModFix amt="25000"/>
          </a:blip>
          <a:srcRect t="22162"/>
          <a:stretch>
            <a:fillRect/>
          </a:stretch>
        </p:blipFill>
        <p:spPr>
          <a:xfrm>
            <a:off x="777875" y="2787650"/>
            <a:ext cx="2311400" cy="1800225"/>
          </a:xfrm>
          <a:prstGeom prst="rect">
            <a:avLst/>
          </a:prstGeom>
        </p:spPr>
      </p:pic>
      <p:sp>
        <p:nvSpPr>
          <p:cNvPr id="16" name="Shape 1"/>
          <p:cNvSpPr/>
          <p:nvPr>
            <p:custDataLst>
              <p:tags r:id="rId8"/>
            </p:custDataLst>
          </p:nvPr>
        </p:nvSpPr>
        <p:spPr>
          <a:xfrm>
            <a:off x="3489960" y="5227955"/>
            <a:ext cx="4967605" cy="502920"/>
          </a:xfrm>
          <a:prstGeom prst="roundRect">
            <a:avLst>
              <a:gd name="adj" fmla="val 50000"/>
            </a:avLst>
          </a:prstGeom>
          <a:solidFill>
            <a:srgbClr val="015DBB"/>
          </a:solidFill>
        </p:spPr>
        <p:txBody>
          <a:bodyPr/>
          <a:p>
            <a:endParaRPr lang="zh-CN" altLang="en-US"/>
          </a:p>
        </p:txBody>
      </p:sp>
      <p:sp>
        <p:nvSpPr>
          <p:cNvPr id="17" name="Text 3"/>
          <p:cNvSpPr/>
          <p:nvPr>
            <p:custDataLst>
              <p:tags r:id="rId9"/>
            </p:custDataLst>
          </p:nvPr>
        </p:nvSpPr>
        <p:spPr>
          <a:xfrm>
            <a:off x="3481070" y="4429760"/>
            <a:ext cx="238569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汇报人:</a:t>
            </a:r>
            <a:r>
              <a:rPr lang="zh-CN" alt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董丰瑞</a:t>
            </a:r>
            <a:endParaRPr lang="zh-CN" altLang="en-US" sz="20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8" name="Text 3"/>
          <p:cNvSpPr/>
          <p:nvPr>
            <p:custDataLst>
              <p:tags r:id="rId10"/>
            </p:custDataLst>
          </p:nvPr>
        </p:nvSpPr>
        <p:spPr>
          <a:xfrm>
            <a:off x="3649980" y="5280025"/>
            <a:ext cx="478790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组员：查科言，董丰瑞，禹相祐</a:t>
            </a:r>
            <a:endParaRPr lang="zh-CN" altLang="en-US" sz="20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8235" y="647700"/>
            <a:ext cx="6924675" cy="92202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1118235" y="647700"/>
            <a:ext cx="6924675" cy="92202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/CONTENTS</a:t>
            </a:r>
            <a:endParaRPr lang="en-US" sz="1600" dirty="0"/>
          </a:p>
        </p:txBody>
      </p:sp>
      <p:pic>
        <p:nvPicPr>
          <p:cNvPr id="4" name="Image 0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1"/>
          <a:srcRect t="22162"/>
          <a:stretch>
            <a:fillRect/>
          </a:stretch>
        </p:blipFill>
        <p:spPr>
          <a:xfrm>
            <a:off x="7494905" y="2640330"/>
            <a:ext cx="4050665" cy="3154045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9-08-12:55:41-d2v63jdnfo2stf9dk4og.png"/>
          <p:cNvPicPr>
            <a:picLocks noChangeAspect="1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flipH="1" flipV="1">
            <a:off x="9610725" y="723265"/>
            <a:ext cx="1656080" cy="133286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41-d2v63jdnfo2stf9dk4o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37260" y="1911985"/>
            <a:ext cx="361315" cy="291465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8-12:55:41-d2v63jdnfo2stf9dk4o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37260" y="2616200"/>
            <a:ext cx="361315" cy="291465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8-12:55:41-d2v63jdnfo2stf9dk4og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37260" y="3308985"/>
            <a:ext cx="361315" cy="291465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8-12:55:41-d2v63jdnfo2stf9dk4og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37260" y="4028440"/>
            <a:ext cx="361315" cy="291465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8-12:55:41-d2v63jdnfo2stf9dk4og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37260" y="4698365"/>
            <a:ext cx="361315" cy="291465"/>
          </a:xfrm>
          <a:prstGeom prst="rect">
            <a:avLst/>
          </a:prstGeom>
        </p:spPr>
      </p:pic>
      <p:pic>
        <p:nvPicPr>
          <p:cNvPr id="12" name="Image 8" descr="https://kimi-img.moonshot.cn/pub/slides/slides_tmpl/image/25-09-08-12:55:41-d2v63jdnfo2stf9dk4og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37260" y="5403850"/>
            <a:ext cx="361315" cy="291465"/>
          </a:xfrm>
          <a:prstGeom prst="rect">
            <a:avLst/>
          </a:prstGeom>
        </p:spPr>
      </p:pic>
      <p:sp>
        <p:nvSpPr>
          <p:cNvPr id="13" name="Text 2"/>
          <p:cNvSpPr/>
          <p:nvPr>
            <p:custDataLst>
              <p:tags r:id="rId10"/>
            </p:custDataLst>
          </p:nvPr>
        </p:nvSpPr>
        <p:spPr>
          <a:xfrm>
            <a:off x="1202055" y="1777365"/>
            <a:ext cx="780415" cy="499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3"/>
          <p:cNvSpPr/>
          <p:nvPr>
            <p:custDataLst>
              <p:tags r:id="rId11"/>
            </p:custDataLst>
          </p:nvPr>
        </p:nvSpPr>
        <p:spPr>
          <a:xfrm>
            <a:off x="2156460" y="1837055"/>
            <a:ext cx="6160135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论文简介</a:t>
            </a:r>
            <a:endParaRPr lang="en-US" sz="2800" b="1" dirty="0">
              <a:solidFill>
                <a:srgbClr val="40404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5" name="Text 4"/>
          <p:cNvSpPr/>
          <p:nvPr>
            <p:custDataLst>
              <p:tags r:id="rId12"/>
            </p:custDataLst>
          </p:nvPr>
        </p:nvSpPr>
        <p:spPr>
          <a:xfrm>
            <a:off x="1202055" y="2470150"/>
            <a:ext cx="818515" cy="499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5"/>
          <p:cNvSpPr/>
          <p:nvPr>
            <p:custDataLst>
              <p:tags r:id="rId13"/>
            </p:custDataLst>
          </p:nvPr>
        </p:nvSpPr>
        <p:spPr>
          <a:xfrm>
            <a:off x="2156460" y="2528570"/>
            <a:ext cx="6160135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背景与问题</a:t>
            </a:r>
            <a:endParaRPr lang="zh-CN" altLang="en-US" sz="2800" b="1" dirty="0">
              <a:solidFill>
                <a:srgbClr val="40404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7" name="Text 6"/>
          <p:cNvSpPr/>
          <p:nvPr>
            <p:custDataLst>
              <p:tags r:id="rId14"/>
            </p:custDataLst>
          </p:nvPr>
        </p:nvSpPr>
        <p:spPr>
          <a:xfrm>
            <a:off x="1202055" y="3162935"/>
            <a:ext cx="818515" cy="499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7"/>
          <p:cNvSpPr/>
          <p:nvPr>
            <p:custDataLst>
              <p:tags r:id="rId15"/>
            </p:custDataLst>
          </p:nvPr>
        </p:nvSpPr>
        <p:spPr>
          <a:xfrm>
            <a:off x="2156460" y="3221355"/>
            <a:ext cx="6160135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LLFree</a:t>
            </a:r>
            <a:r>
              <a:rPr lang="en-US" altLang="zh-CN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核心设计</a:t>
            </a:r>
            <a:endParaRPr lang="zh-CN" altLang="en-US" sz="2800" b="1" dirty="0">
              <a:solidFill>
                <a:srgbClr val="40404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9" name="Text 8"/>
          <p:cNvSpPr/>
          <p:nvPr>
            <p:custDataLst>
              <p:tags r:id="rId16"/>
            </p:custDataLst>
          </p:nvPr>
        </p:nvSpPr>
        <p:spPr>
          <a:xfrm>
            <a:off x="1202055" y="3855720"/>
            <a:ext cx="818515" cy="499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9"/>
          <p:cNvSpPr/>
          <p:nvPr>
            <p:custDataLst>
              <p:tags r:id="rId17"/>
            </p:custDataLst>
          </p:nvPr>
        </p:nvSpPr>
        <p:spPr>
          <a:xfrm>
            <a:off x="2156460" y="3914140"/>
            <a:ext cx="6160135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核心性能结果</a:t>
            </a:r>
            <a:endParaRPr lang="zh-CN" altLang="en-US" sz="1600" dirty="0"/>
          </a:p>
        </p:txBody>
      </p:sp>
      <p:sp>
        <p:nvSpPr>
          <p:cNvPr id="21" name="Text 10"/>
          <p:cNvSpPr/>
          <p:nvPr>
            <p:custDataLst>
              <p:tags r:id="rId18"/>
            </p:custDataLst>
          </p:nvPr>
        </p:nvSpPr>
        <p:spPr>
          <a:xfrm>
            <a:off x="1202055" y="4548505"/>
            <a:ext cx="818515" cy="499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11"/>
          <p:cNvSpPr/>
          <p:nvPr>
            <p:custDataLst>
              <p:tags r:id="rId19"/>
            </p:custDataLst>
          </p:nvPr>
        </p:nvSpPr>
        <p:spPr>
          <a:xfrm>
            <a:off x="2156460" y="4600575"/>
            <a:ext cx="6160135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实现与</a:t>
            </a:r>
            <a:r>
              <a:rPr lang="zh-CN" alt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局限</a:t>
            </a:r>
            <a:endParaRPr lang="zh-CN" altLang="en-US" sz="2800" b="1" dirty="0">
              <a:solidFill>
                <a:srgbClr val="40404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3" name="Text 12"/>
          <p:cNvSpPr/>
          <p:nvPr>
            <p:custDataLst>
              <p:tags r:id="rId20"/>
            </p:custDataLst>
          </p:nvPr>
        </p:nvSpPr>
        <p:spPr>
          <a:xfrm>
            <a:off x="1202055" y="5241290"/>
            <a:ext cx="818515" cy="499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24" name="Text 13"/>
          <p:cNvSpPr/>
          <p:nvPr>
            <p:custDataLst>
              <p:tags r:id="rId21"/>
            </p:custDataLst>
          </p:nvPr>
        </p:nvSpPr>
        <p:spPr>
          <a:xfrm>
            <a:off x="2156460" y="5287010"/>
            <a:ext cx="6160135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总结与</a:t>
            </a:r>
            <a:r>
              <a:rPr lang="zh-CN" alt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展望</a:t>
            </a:r>
            <a:endParaRPr lang="zh-CN" altLang="en-US" sz="2800" b="1" dirty="0">
              <a:solidFill>
                <a:srgbClr val="40404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8299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论文简介</a:t>
            </a:r>
            <a:endParaRPr lang="en-US" sz="4800" b="1" dirty="0">
              <a:solidFill>
                <a:srgbClr val="015DBB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4815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2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3-d2v63jtnfo2stf9dk4t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8815" y="1528445"/>
            <a:ext cx="5616575" cy="36855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205998" y="5200433"/>
            <a:ext cx="6159468" cy="1255846"/>
          </a:xfrm>
          <a:prstGeom prst="ellipse">
            <a:avLst/>
          </a:prstGeom>
          <a:solidFill>
            <a:srgbClr val="FBFBFB">
              <a:alpha val="12941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205998" y="5200433"/>
            <a:ext cx="6159468" cy="125584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1916862" y="5436404"/>
            <a:ext cx="2737740" cy="406066"/>
          </a:xfrm>
          <a:prstGeom prst="ellipse">
            <a:avLst/>
          </a:prstGeom>
          <a:solidFill>
            <a:srgbClr val="FBFBFB">
              <a:alpha val="7098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1916862" y="5436404"/>
            <a:ext cx="2737740" cy="40606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617220" y="340995"/>
            <a:ext cx="10958830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LLFree: Scalable and Optionally-Persistent </a:t>
            </a:r>
            <a:endParaRPr lang="en-US" sz="3600" b="1" dirty="0">
              <a:solidFill>
                <a:srgbClr val="015DBB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Page-Frame Allocation</a:t>
            </a:r>
            <a:endParaRPr lang="en-US" altLang="zh-CN" sz="2800" dirty="0">
              <a:latin typeface="MiSans" pitchFamily="34" charset="-122"/>
              <a:ea typeface="MiSans" pitchFamily="34" charset="-122"/>
            </a:endParaRPr>
          </a:p>
        </p:txBody>
      </p:sp>
      <p:pic>
        <p:nvPicPr>
          <p:cNvPr id="10" name="Image 3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2155"/>
            <a:ext cx="12192635" cy="104584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869670" y="1711960"/>
            <a:ext cx="4780280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论文信息概览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5947093" y="2252345"/>
            <a:ext cx="4871887" cy="26765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本次分享的论文来自</a:t>
            </a:r>
            <a:r>
              <a:rPr lang="en-US" altLang="zh-CN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USENIX ATC 2023</a:t>
            </a:r>
            <a:r>
              <a:rPr lang="zh-CN" altLang="en-US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，标题为</a:t>
            </a:r>
            <a:r>
              <a:rPr lang="zh-CN" altLang="en-US" sz="16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《</a:t>
            </a:r>
            <a:r>
              <a:rPr lang="en-US" altLang="zh-CN" sz="16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LLFree: Scalable and Optionally-Persistent Page-Frame Allocation</a:t>
            </a:r>
            <a:r>
              <a:rPr lang="zh-CN" altLang="en-US" sz="16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》</a:t>
            </a:r>
            <a:r>
              <a:rPr lang="zh-CN" altLang="en-US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，提出了</a:t>
            </a:r>
            <a:r>
              <a:rPr lang="zh-CN" altLang="en-US" sz="1600" dirty="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无锁无日志</a:t>
            </a:r>
            <a:r>
              <a:rPr lang="zh-CN" altLang="en-US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的页框分配器</a:t>
            </a:r>
            <a:r>
              <a:rPr lang="en-US" altLang="zh-CN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LLFree</a:t>
            </a:r>
            <a:r>
              <a:rPr lang="zh-CN" altLang="en-US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，其在</a:t>
            </a:r>
            <a:r>
              <a:rPr lang="zh-CN" altLang="en-US" sz="1600" dirty="0">
                <a:solidFill>
                  <a:schemeClr val="accent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并发分配性能、碎片整理、持久内存</a:t>
            </a:r>
            <a:r>
              <a:rPr lang="en-US" altLang="zh-CN" sz="1600" dirty="0">
                <a:solidFill>
                  <a:schemeClr val="accent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crash </a:t>
            </a:r>
            <a:r>
              <a:rPr lang="zh-CN" altLang="en-US" sz="1600" dirty="0">
                <a:solidFill>
                  <a:schemeClr val="accent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一致性</a:t>
            </a:r>
            <a:r>
              <a:rPr lang="zh-CN" altLang="en-US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等方面显著优于传统</a:t>
            </a:r>
            <a:r>
              <a:rPr lang="en-US" altLang="zh-CN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buddy </a:t>
            </a:r>
            <a:r>
              <a:rPr lang="zh-CN" altLang="en-US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分配器，</a:t>
            </a:r>
            <a:r>
              <a:rPr lang="en-US" altLang="zh-CN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4KiB </a:t>
            </a:r>
            <a:r>
              <a:rPr lang="zh-CN" altLang="en-US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并发分配耗时</a:t>
            </a:r>
            <a:r>
              <a:rPr lang="zh-CN" altLang="en-US" sz="1600" dirty="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最高降低</a:t>
            </a:r>
            <a:r>
              <a:rPr lang="en-US" altLang="zh-CN" sz="1600" dirty="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88%</a:t>
            </a:r>
            <a:r>
              <a:rPr lang="zh-CN" altLang="en-US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</a:t>
            </a:r>
            <a:r>
              <a:rPr lang="en-US" altLang="zh-CN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2MiB </a:t>
            </a:r>
            <a:r>
              <a:rPr lang="zh-CN" altLang="en-US" sz="1600" dirty="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最高降低</a:t>
            </a:r>
            <a:r>
              <a:rPr lang="en-US" altLang="zh-CN" sz="1600" dirty="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98%</a:t>
            </a:r>
            <a:r>
              <a:rPr lang="zh-CN" altLang="en-US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zh-CN" altLang="en-US" sz="1600" dirty="0">
              <a:solidFill>
                <a:srgbClr val="40404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14" name="图片 13" descr="屏幕截图 2025-12-08 1420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90" y="2464435"/>
            <a:ext cx="4691380" cy="19291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8299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背景与</a:t>
            </a:r>
            <a:r>
              <a:rPr lang="zh-CN" alt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</a:t>
            </a:r>
            <a:endParaRPr lang="zh-CN" altLang="en-US" sz="4800" b="1" dirty="0">
              <a:solidFill>
                <a:srgbClr val="015DBB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4815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2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flipV="1">
            <a:off x="205998" y="5200433"/>
            <a:ext cx="6159468" cy="1255846"/>
          </a:xfrm>
          <a:prstGeom prst="ellipse">
            <a:avLst/>
          </a:prstGeom>
          <a:solidFill>
            <a:srgbClr val="FBFBFB">
              <a:alpha val="12941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205998" y="5200433"/>
            <a:ext cx="6159468" cy="125584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1916862" y="5436404"/>
            <a:ext cx="2737740" cy="406066"/>
          </a:xfrm>
          <a:prstGeom prst="ellipse">
            <a:avLst/>
          </a:prstGeom>
          <a:solidFill>
            <a:srgbClr val="FBFBFB">
              <a:alpha val="7098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1916862" y="5436404"/>
            <a:ext cx="2737740" cy="40606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0" name="Image 3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2155"/>
            <a:ext cx="12192635" cy="10458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1840" y="481330"/>
            <a:ext cx="3048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背景与问题</a:t>
            </a:r>
            <a:endParaRPr lang="en-US" sz="3600" b="1" dirty="0">
              <a:solidFill>
                <a:srgbClr val="015DBB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93395" y="1224280"/>
            <a:ext cx="4601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MiSans" pitchFamily="34" charset="-122"/>
                <a:ea typeface="MiSans" pitchFamily="34" charset="-122"/>
              </a:rPr>
              <a:t>硬件新驱使下的传统分配器困境：</a:t>
            </a:r>
            <a:endParaRPr lang="zh-CN" altLang="en-US" sz="2400">
              <a:latin typeface="MiSans" pitchFamily="34" charset="-122"/>
              <a:ea typeface="MiSans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94995" y="1807845"/>
            <a:ext cx="5227955" cy="2724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</a:rPr>
              <a:t>1. 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</a:rPr>
              <a:t>硬件趋势：多核架构普及（如</a:t>
            </a:r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</a:rPr>
              <a:t> 26 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</a:rPr>
              <a:t>核</a:t>
            </a:r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</a:rPr>
              <a:t> +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</a:rPr>
              <a:t>）</a:t>
            </a:r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</a:rPr>
              <a:t>+ NVRAM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</a:rPr>
              <a:t>（非易失性内存）兴起，内存管理需求升级；</a:t>
            </a:r>
            <a:endParaRPr lang="zh-CN" altLang="en-US" sz="24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endParaRPr lang="zh-CN" altLang="en-US" sz="24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</a:rPr>
              <a:t>2. Linux Buddy 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</a:rPr>
              <a:t>分配器</a:t>
            </a:r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</a:rPr>
              <a:t> </a:t>
            </a:r>
            <a:r>
              <a:rPr lang="en-US" altLang="zh-CN" sz="2400">
                <a:solidFill>
                  <a:schemeClr val="accent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5 </a:t>
            </a:r>
            <a:r>
              <a:rPr lang="zh-CN" altLang="en-US" sz="2400">
                <a:solidFill>
                  <a:schemeClr val="accent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大痛点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</a:rPr>
              <a:t>：</a:t>
            </a:r>
            <a:r>
              <a:rPr lang="zh-CN" altLang="en-US" sz="2400">
                <a:solidFill>
                  <a:schemeClr val="accent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功能混合、合并开销高、多核扩展性差、大页碎片严重、不支持持久化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</a:rPr>
              <a:t>；</a:t>
            </a:r>
            <a:endParaRPr lang="zh-CN" altLang="en-US" sz="24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endParaRPr lang="zh-CN" altLang="en-US" sz="24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</a:rPr>
              <a:t>3. 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</a:rPr>
              <a:t>关键痛点：</a:t>
            </a:r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</a:rPr>
              <a:t>26 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</a:rPr>
              <a:t>核并发时，</a:t>
            </a:r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</a:rPr>
              <a:t>4KiB 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</a:rPr>
              <a:t>分配耗时</a:t>
            </a:r>
            <a:r>
              <a:rPr lang="zh-CN" altLang="en-US" sz="240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增</a:t>
            </a:r>
            <a:r>
              <a:rPr lang="en-US" altLang="zh-CN" sz="240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 10 </a:t>
            </a:r>
            <a:r>
              <a:rPr lang="zh-CN" altLang="en-US" sz="240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倍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</a:rPr>
              <a:t>，</a:t>
            </a:r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</a:rPr>
              <a:t>2MiB </a:t>
            </a:r>
            <a:r>
              <a:rPr lang="zh-CN" altLang="en-US" sz="240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增</a:t>
            </a:r>
            <a:r>
              <a:rPr lang="en-US" altLang="zh-CN" sz="240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 27 </a:t>
            </a:r>
            <a:r>
              <a:rPr lang="zh-CN" altLang="en-US" sz="240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倍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</a:rPr>
              <a:t>（</a:t>
            </a:r>
            <a:r>
              <a:rPr lang="zh-CN" altLang="en-US" sz="240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从</a:t>
            </a:r>
            <a:r>
              <a:rPr lang="en-US" altLang="zh-CN" sz="240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 94ns </a:t>
            </a:r>
            <a:r>
              <a:rPr lang="zh-CN" altLang="en-US" sz="240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到</a:t>
            </a:r>
            <a:r>
              <a:rPr lang="en-US" altLang="zh-CN" sz="240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 2538ns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</a:rPr>
              <a:t>）。</a:t>
            </a:r>
            <a:endParaRPr lang="zh-CN" altLang="en-US" sz="2400"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pic>
        <p:nvPicPr>
          <p:cNvPr id="18" name="图片 17" descr="屏幕截图 2025-12-08 144657"/>
          <p:cNvPicPr>
            <a:picLocks noChangeAspect="1"/>
          </p:cNvPicPr>
          <p:nvPr/>
        </p:nvPicPr>
        <p:blipFill>
          <a:blip r:embed="rId3"/>
          <a:srcRect l="5801" t="4308" r="3697" b="3246"/>
          <a:stretch>
            <a:fillRect/>
          </a:stretch>
        </p:blipFill>
        <p:spPr>
          <a:xfrm>
            <a:off x="6211570" y="2321560"/>
            <a:ext cx="5720715" cy="219075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6906895" y="4584065"/>
            <a:ext cx="50253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MiSans" pitchFamily="34" charset="-122"/>
                <a:ea typeface="MiSans" pitchFamily="34" charset="-122"/>
                <a:cs typeface="MiSans" pitchFamily="34" charset="-122"/>
              </a:rPr>
              <a:t>fig.1</a:t>
            </a:r>
            <a:r>
              <a:rPr lang="zh-CN" altLang="en-US" b="1">
                <a:latin typeface="MiSans" pitchFamily="34" charset="-122"/>
                <a:ea typeface="MiSans" pitchFamily="34" charset="-122"/>
                <a:cs typeface="MiSans" pitchFamily="34" charset="-122"/>
              </a:rPr>
              <a:t>：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</a:rPr>
              <a:t>Linux 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帧分配器在并发分配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</a:rPr>
              <a:t>4KiB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（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</a:rPr>
              <a:t>0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阶）和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</a:rPr>
              <a:t>2MiB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（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</a:rPr>
              <a:t>9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阶）巨型帧时的性能，</a:t>
            </a:r>
            <a:r>
              <a:rPr lang="en-US" altLang="zh-CN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26 </a:t>
            </a:r>
            <a:r>
              <a:rPr lang="zh-CN" altLang="en-US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核时性能暴跌</a:t>
            </a:r>
            <a:endParaRPr lang="zh-CN" altLang="en-US">
              <a:solidFill>
                <a:srgbClr val="FF0000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8299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LLFree </a:t>
            </a:r>
            <a:r>
              <a:rPr lang="zh-CN" alt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</a:t>
            </a:r>
            <a:r>
              <a:rPr lang="zh-CN" alt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</a:t>
            </a:r>
            <a:endParaRPr lang="zh-CN" altLang="en-US" sz="4800" b="1" dirty="0">
              <a:solidFill>
                <a:srgbClr val="015DBB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4815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2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flipV="1">
            <a:off x="205998" y="5200433"/>
            <a:ext cx="6159468" cy="1255846"/>
          </a:xfrm>
          <a:prstGeom prst="ellipse">
            <a:avLst/>
          </a:prstGeom>
          <a:solidFill>
            <a:srgbClr val="FBFBFB">
              <a:alpha val="12941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205998" y="5200433"/>
            <a:ext cx="6159468" cy="125584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1916862" y="5436404"/>
            <a:ext cx="2737740" cy="406066"/>
          </a:xfrm>
          <a:prstGeom prst="ellipse">
            <a:avLst/>
          </a:prstGeom>
          <a:solidFill>
            <a:srgbClr val="FBFBFB">
              <a:alpha val="7098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1916862" y="5436404"/>
            <a:ext cx="2737740" cy="40606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0" name="Image 3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2155"/>
            <a:ext cx="12192635" cy="10458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1840" y="481330"/>
            <a:ext cx="38900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LLFree </a:t>
            </a:r>
            <a:r>
              <a:rPr lang="zh-CN" alt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</a:t>
            </a:r>
            <a:r>
              <a:rPr lang="zh-CN" alt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</a:t>
            </a:r>
            <a:endParaRPr lang="zh-CN" altLang="en-US" sz="3600" b="1" dirty="0">
              <a:solidFill>
                <a:srgbClr val="015DBB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93395" y="1224280"/>
            <a:ext cx="4601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MiSans" pitchFamily="34" charset="-122"/>
                <a:ea typeface="MiSans" pitchFamily="34" charset="-122"/>
              </a:rPr>
              <a:t>三大设计原则</a:t>
            </a:r>
            <a:r>
              <a:rPr lang="en-US" altLang="zh-CN" sz="2400">
                <a:solidFill>
                  <a:srgbClr val="FF0000"/>
                </a:solidFill>
                <a:latin typeface="MiSans" pitchFamily="34" charset="-122"/>
                <a:ea typeface="MiSans" pitchFamily="34" charset="-122"/>
              </a:rPr>
              <a:t> + </a:t>
            </a:r>
            <a:r>
              <a:rPr lang="zh-CN" altLang="en-US" sz="2400">
                <a:solidFill>
                  <a:srgbClr val="FF0000"/>
                </a:solidFill>
                <a:latin typeface="MiSans" pitchFamily="34" charset="-122"/>
                <a:ea typeface="MiSans" pitchFamily="34" charset="-122"/>
              </a:rPr>
              <a:t>两级架构：</a:t>
            </a:r>
            <a:endParaRPr lang="zh-CN" altLang="en-US" sz="2400">
              <a:solidFill>
                <a:srgbClr val="FF0000"/>
              </a:solidFill>
              <a:latin typeface="MiSans" pitchFamily="34" charset="-122"/>
              <a:ea typeface="MiSans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93395" y="1782445"/>
            <a:ext cx="5227955" cy="2724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</a:rPr>
              <a:t>1. 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设计原则：</a:t>
            </a:r>
            <a:r>
              <a:rPr lang="zh-CN" altLang="en-US">
                <a:solidFill>
                  <a:schemeClr val="accent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贴合硬件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特性（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</a:rPr>
              <a:t>MMU 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帧大小、缓存行粒度）、</a:t>
            </a:r>
            <a:r>
              <a:rPr lang="zh-CN" altLang="en-US">
                <a:solidFill>
                  <a:schemeClr val="accent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无锁无共享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、</a:t>
            </a:r>
            <a:r>
              <a:rPr lang="zh-CN" altLang="en-US">
                <a:solidFill>
                  <a:schemeClr val="accent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最小化冗余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；</a:t>
            </a:r>
            <a:endParaRPr lang="zh-CN" altLang="en-US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endParaRPr lang="zh-CN" altLang="en-US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</a:rPr>
              <a:t>2. 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两级架构：</a:t>
            </a:r>
            <a:endParaRPr lang="zh-CN" altLang="en-US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r>
              <a:rPr lang="en-US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◦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</a:rPr>
              <a:t> </a:t>
            </a:r>
            <a:r>
              <a:rPr lang="zh-CN" altLang="en-US" b="1">
                <a:latin typeface="MiSans" pitchFamily="34" charset="-122"/>
                <a:ea typeface="MiSans" pitchFamily="34" charset="-122"/>
                <a:cs typeface="MiSans" pitchFamily="34" charset="-122"/>
              </a:rPr>
              <a:t>下层（执行层）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：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</a:rPr>
              <a:t>512 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位位图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</a:rPr>
              <a:t> + 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计数器管理帧，单缓存行原子操作（保障持久化一致性）；</a:t>
            </a:r>
            <a:endParaRPr lang="zh-CN" altLang="en-US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r>
              <a:rPr lang="en-US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◦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</a:rPr>
              <a:t> </a:t>
            </a:r>
            <a:r>
              <a:rPr lang="zh-CN" altLang="en-US" b="1">
                <a:latin typeface="MiSans" pitchFamily="34" charset="-122"/>
                <a:ea typeface="MiSans" pitchFamily="34" charset="-122"/>
                <a:cs typeface="MiSans" pitchFamily="34" charset="-122"/>
              </a:rPr>
              <a:t>上层（策略层）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：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</a:rPr>
              <a:t>64MiB “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树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</a:rPr>
              <a:t>” 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结构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</a:rPr>
              <a:t> + CPU 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偏好树，按空闲率分类（全满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</a:rPr>
              <a:t> / 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部分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</a:rPr>
              <a:t> / 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全空），减少竞争与碎片；</a:t>
            </a:r>
            <a:endParaRPr lang="zh-CN" altLang="en-US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endParaRPr lang="zh-CN" altLang="en-US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</a:rPr>
              <a:t>3. 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关键特性：支持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</a:rPr>
              <a:t> volatile/NVRAM 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双场景、被动式大页碎片整理、无日志持久化。</a:t>
            </a:r>
            <a:endParaRPr lang="zh-CN" altLang="en-US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endParaRPr lang="zh-CN" altLang="en-US"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822950" y="4584065"/>
            <a:ext cx="6109335" cy="1137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MiSans" pitchFamily="34" charset="-122"/>
                <a:ea typeface="MiSans" pitchFamily="34" charset="-122"/>
                <a:cs typeface="MiSans" pitchFamily="34" charset="-122"/>
              </a:rPr>
              <a:t>fig.3</a:t>
            </a:r>
            <a:r>
              <a:rPr lang="zh-CN" altLang="en-US" b="1">
                <a:latin typeface="MiSans" pitchFamily="34" charset="-122"/>
                <a:ea typeface="MiSans" pitchFamily="34" charset="-122"/>
                <a:cs typeface="MiSans" pitchFamily="34" charset="-122"/>
              </a:rPr>
              <a:t>：</a:t>
            </a:r>
            <a:r>
              <a:rPr lang="en-US" altLang="zh-CN" sz="160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LLFREE </a:t>
            </a:r>
            <a:r>
              <a:rPr lang="zh-CN" altLang="en-US" sz="160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分配器的架构：树形条目、子条目和位域依次存储在大型数组中。从</a:t>
            </a:r>
            <a:r>
              <a:rPr lang="en-US" altLang="zh-CN" sz="160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PFN</a:t>
            </a:r>
            <a:r>
              <a:rPr lang="zh-CN" altLang="en-US" sz="160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中，我们可以直接提取相应树形条目、子条目、位域以及帧内已分配位的索引。</a:t>
            </a:r>
            <a:endParaRPr lang="zh-CN" altLang="en-US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endParaRPr lang="zh-CN" altLang="en-US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pic>
        <p:nvPicPr>
          <p:cNvPr id="2" name="图片 1" descr="屏幕截图 2025-12-08 145341"/>
          <p:cNvPicPr>
            <a:picLocks noChangeAspect="1"/>
          </p:cNvPicPr>
          <p:nvPr/>
        </p:nvPicPr>
        <p:blipFill>
          <a:blip r:embed="rId3"/>
          <a:srcRect l="3920" t="3729" r="2979"/>
          <a:stretch>
            <a:fillRect/>
          </a:stretch>
        </p:blipFill>
        <p:spPr>
          <a:xfrm>
            <a:off x="5711825" y="1801495"/>
            <a:ext cx="6480810" cy="2367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flipV="1">
            <a:off x="205998" y="5200433"/>
            <a:ext cx="6159468" cy="1255846"/>
          </a:xfrm>
          <a:prstGeom prst="ellipse">
            <a:avLst/>
          </a:prstGeom>
          <a:solidFill>
            <a:srgbClr val="FBFBFB">
              <a:alpha val="12941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205998" y="5200433"/>
            <a:ext cx="6159468" cy="125584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1916862" y="5436404"/>
            <a:ext cx="2737740" cy="406066"/>
          </a:xfrm>
          <a:prstGeom prst="ellipse">
            <a:avLst/>
          </a:prstGeom>
          <a:solidFill>
            <a:srgbClr val="FBFBFB">
              <a:alpha val="7098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1916862" y="5436404"/>
            <a:ext cx="2737740" cy="40606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0" name="Image 3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2155"/>
            <a:ext cx="12192635" cy="10458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1840" y="481330"/>
            <a:ext cx="38900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LLFree </a:t>
            </a:r>
            <a:r>
              <a:rPr lang="zh-CN" alt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</a:t>
            </a:r>
            <a:r>
              <a:rPr lang="zh-CN" alt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</a:t>
            </a:r>
            <a:endParaRPr lang="zh-CN" altLang="en-US" sz="3600" b="1" dirty="0">
              <a:solidFill>
                <a:srgbClr val="015DBB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19735" y="1054100"/>
            <a:ext cx="10544810" cy="431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下层：</a:t>
            </a:r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512 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位位图</a:t>
            </a:r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+ 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计数器管理帧，单缓存行原子操作</a:t>
            </a:r>
            <a:endParaRPr lang="zh-CN" altLang="en-US" sz="2400" b="1">
              <a:latin typeface="MiSans" pitchFamily="34" charset="-122"/>
              <a:ea typeface="MiSans" pitchFamily="34" charset="-122"/>
              <a:cs typeface="MiSans" pitchFamily="34" charset="-122"/>
              <a:sym typeface="+mn-ea"/>
            </a:endParaRPr>
          </a:p>
          <a:p>
            <a:endParaRPr lang="zh-CN" altLang="en-US" sz="2400" b="1">
              <a:latin typeface="MiSans" pitchFamily="34" charset="-122"/>
              <a:ea typeface="MiSans" pitchFamily="34" charset="-122"/>
              <a:cs typeface="MiSans" pitchFamily="34" charset="-122"/>
              <a:sym typeface="+mn-ea"/>
            </a:endParaRPr>
          </a:p>
          <a:p>
            <a:r>
              <a:rPr lang="zh-CN" altLang="en-US" sz="2000" b="1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位图设计：</a:t>
            </a:r>
            <a:r>
              <a:rPr lang="en-US" altLang="zh-CN" sz="2000" b="1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</a:t>
            </a:r>
            <a:endParaRPr lang="en-US" altLang="zh-CN">
              <a:latin typeface="MiSans" pitchFamily="34" charset="-122"/>
              <a:ea typeface="MiSans" pitchFamily="34" charset="-122"/>
              <a:cs typeface="MiSans" pitchFamily="34" charset="-122"/>
              <a:sym typeface="+mn-ea"/>
            </a:endParaRPr>
          </a:p>
          <a:p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 </a:t>
            </a:r>
            <a:r>
              <a:rPr lang="en-US" altLang="zh-CN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512</a:t>
            </a:r>
            <a:r>
              <a:rPr lang="zh-CN" altLang="en-US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位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的位图精准匹配了硬件规格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——1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个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2MiB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大页恰好包含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512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个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4KiB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小页，因此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1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张位图直接对应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1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个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2MiB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大页的空闲状态。位图中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“0”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代表对应小页空闲，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“1”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代表已分配，通过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CPU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原生指令（如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x86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的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`bsf`/`bsr`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）可在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1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个时钟周期内找到首个空闲帧（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0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位），远超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Linux Buddy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遍历双向链表的效率。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</a:t>
            </a:r>
            <a:endParaRPr lang="en-US" altLang="zh-CN">
              <a:latin typeface="MiSans" pitchFamily="34" charset="-122"/>
              <a:ea typeface="MiSans" pitchFamily="34" charset="-122"/>
              <a:cs typeface="MiSans" pitchFamily="34" charset="-122"/>
              <a:sym typeface="+mn-ea"/>
            </a:endParaRPr>
          </a:p>
          <a:p>
            <a:endParaRPr lang="zh-CN" altLang="en-US">
              <a:latin typeface="MiSans" pitchFamily="34" charset="-122"/>
              <a:ea typeface="MiSans" pitchFamily="34" charset="-122"/>
              <a:cs typeface="MiSans" pitchFamily="34" charset="-122"/>
              <a:sym typeface="+mn-ea"/>
            </a:endParaRPr>
          </a:p>
          <a:p>
            <a:r>
              <a:rPr lang="zh-CN" altLang="en-US" sz="2000" b="1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计数器作用：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 </a:t>
            </a:r>
            <a:endParaRPr lang="en-US" altLang="zh-CN" sz="2000">
              <a:latin typeface="MiSans" pitchFamily="34" charset="-122"/>
              <a:ea typeface="MiSans" pitchFamily="34" charset="-122"/>
              <a:cs typeface="MiSans" pitchFamily="34" charset="-122"/>
              <a:sym typeface="+mn-ea"/>
            </a:endParaRPr>
          </a:p>
          <a:p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 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计数器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c_L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（每个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2MiB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大页对应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1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个）专门维护该大页内的空闲小页数量，所有操作（增减）均通过原子指令实现，避免无效查找：分配前先原子递减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c_L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，若结果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≥0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，说明有空闲帧，再去位图查找；若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&lt;0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，直接放弃该大页。</a:t>
            </a:r>
            <a:endParaRPr lang="zh-CN" altLang="en-US">
              <a:latin typeface="MiSans" pitchFamily="34" charset="-122"/>
              <a:ea typeface="MiSans" pitchFamily="34" charset="-122"/>
              <a:cs typeface="MiSans" pitchFamily="34" charset="-122"/>
              <a:sym typeface="+mn-ea"/>
            </a:endParaRPr>
          </a:p>
          <a:p>
            <a:endParaRPr lang="en-US" altLang="zh-CN" sz="2400">
              <a:latin typeface="MiSans" pitchFamily="34" charset="-122"/>
              <a:ea typeface="MiSans" pitchFamily="34" charset="-122"/>
              <a:cs typeface="MiSans" pitchFamily="34" charset="-122"/>
              <a:sym typeface="+mn-ea"/>
            </a:endParaRPr>
          </a:p>
          <a:p>
            <a:r>
              <a:rPr lang="zh-CN" altLang="en-US" sz="2000" b="1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优势本质</a:t>
            </a:r>
            <a:r>
              <a:rPr lang="en-US" altLang="zh-CN" sz="2000" b="1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——</a:t>
            </a:r>
            <a:r>
              <a:rPr lang="zh-CN" altLang="en-US" sz="2000" b="1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缓存行级别差距：</a:t>
            </a:r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</a:t>
            </a:r>
            <a:endParaRPr lang="en-US" altLang="zh-CN">
              <a:latin typeface="MiSans" pitchFamily="34" charset="-122"/>
              <a:ea typeface="MiSans" pitchFamily="34" charset="-122"/>
              <a:cs typeface="MiSans" pitchFamily="34" charset="-122"/>
              <a:sym typeface="+mn-ea"/>
            </a:endParaRPr>
          </a:p>
          <a:p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 Linux Buddy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分配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/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释放时，需修改多个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struct page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结构体（每个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64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字节，占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1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个缓存行），例如拆分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1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个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2MiB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大页</a:t>
            </a:r>
            <a:r>
              <a:rPr lang="zh-CN" altLang="en-US">
                <a:solidFill>
                  <a:schemeClr val="accent1"/>
                </a:solidFill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需修改</a:t>
            </a:r>
            <a:r>
              <a:rPr lang="en-US" altLang="zh-CN">
                <a:solidFill>
                  <a:schemeClr val="accent1"/>
                </a:solidFill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512</a:t>
            </a:r>
            <a:r>
              <a:rPr lang="zh-CN" altLang="en-US">
                <a:solidFill>
                  <a:schemeClr val="accent1"/>
                </a:solidFill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个</a:t>
            </a:r>
            <a:r>
              <a:rPr lang="en-US" altLang="zh-CN">
                <a:solidFill>
                  <a:schemeClr val="accent1"/>
                </a:solidFill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struct page</a:t>
            </a:r>
            <a:r>
              <a:rPr lang="zh-CN" altLang="en-US">
                <a:solidFill>
                  <a:schemeClr val="accent1"/>
                </a:solidFill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（</a:t>
            </a:r>
            <a:r>
              <a:rPr lang="en-US" altLang="zh-CN">
                <a:solidFill>
                  <a:schemeClr val="accent1"/>
                </a:solidFill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512</a:t>
            </a:r>
            <a:r>
              <a:rPr lang="zh-CN" altLang="en-US">
                <a:solidFill>
                  <a:schemeClr val="accent1"/>
                </a:solidFill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个缓存行）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，合并时</a:t>
            </a:r>
            <a:r>
              <a:rPr lang="zh-CN" altLang="en-US">
                <a:solidFill>
                  <a:schemeClr val="accent1"/>
                </a:solidFill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还要遍历双向链表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（额外缓存行访问）。而</a:t>
            </a:r>
            <a:r>
              <a:rPr lang="en-US" altLang="zh-CN">
                <a:solidFill>
                  <a:schemeClr val="accent1"/>
                </a:solidFill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LLFree</a:t>
            </a:r>
            <a:r>
              <a:rPr lang="zh-CN" altLang="en-US">
                <a:solidFill>
                  <a:schemeClr val="accent1"/>
                </a:solidFill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单次分配</a:t>
            </a:r>
            <a:r>
              <a:rPr lang="en-US" altLang="zh-CN">
                <a:solidFill>
                  <a:schemeClr val="accent1"/>
                </a:solidFill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/</a:t>
            </a:r>
            <a:r>
              <a:rPr lang="zh-CN" altLang="en-US">
                <a:solidFill>
                  <a:schemeClr val="accent1"/>
                </a:solidFill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释放仅操作</a:t>
            </a:r>
            <a:r>
              <a:rPr lang="en-US" altLang="zh-CN">
                <a:solidFill>
                  <a:schemeClr val="accent1"/>
                </a:solidFill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2</a:t>
            </a:r>
            <a:r>
              <a:rPr lang="zh-CN" altLang="en-US">
                <a:solidFill>
                  <a:schemeClr val="accent1"/>
                </a:solidFill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个缓存行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：</a:t>
            </a:r>
            <a:r>
              <a:rPr lang="en-US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①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计数器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c_L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；</a:t>
            </a:r>
            <a:r>
              <a:rPr lang="en-US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②</a:t>
            </a:r>
            <a:r>
              <a:rPr lang="en-US" altLang="zh-CN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512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位位图。</a:t>
            </a:r>
            <a:endParaRPr lang="zh-CN" altLang="en-US">
              <a:latin typeface="MiSans" pitchFamily="34" charset="-122"/>
              <a:ea typeface="MiSans" pitchFamily="34" charset="-122"/>
              <a:cs typeface="MiSans" pitchFamily="34" charset="-122"/>
              <a:sym typeface="+mn-ea"/>
            </a:endParaRPr>
          </a:p>
          <a:p>
            <a:endParaRPr lang="zh-CN" altLang="en-US"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flipV="1">
            <a:off x="205998" y="5200433"/>
            <a:ext cx="6159468" cy="1255846"/>
          </a:xfrm>
          <a:prstGeom prst="ellipse">
            <a:avLst/>
          </a:prstGeom>
          <a:solidFill>
            <a:srgbClr val="FBFBFB">
              <a:alpha val="12941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205998" y="5200433"/>
            <a:ext cx="6159468" cy="125584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1916862" y="5436404"/>
            <a:ext cx="2737740" cy="406066"/>
          </a:xfrm>
          <a:prstGeom prst="ellipse">
            <a:avLst/>
          </a:prstGeom>
          <a:solidFill>
            <a:srgbClr val="FBFBFB">
              <a:alpha val="7098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1916862" y="5436404"/>
            <a:ext cx="2737740" cy="40606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0" name="Image 3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2155"/>
            <a:ext cx="12192635" cy="10458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1840" y="481330"/>
            <a:ext cx="38900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LLFree </a:t>
            </a:r>
            <a:r>
              <a:rPr lang="zh-CN" alt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</a:t>
            </a:r>
            <a:r>
              <a:rPr lang="zh-CN" alt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</a:t>
            </a:r>
            <a:endParaRPr lang="zh-CN" altLang="en-US" sz="3600" b="1" dirty="0">
              <a:solidFill>
                <a:srgbClr val="015DBB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72110" y="1828800"/>
            <a:ext cx="5354955" cy="1740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上层关键：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CPU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偏好树的智能分配策略</a:t>
            </a:r>
            <a:endParaRPr lang="zh-CN" altLang="en-US" sz="20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r>
              <a:rPr lang="en-US" altLang="en-US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◦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树分类：按空闲率分为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“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全满（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&lt;12.5%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）、部分（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12.5%-87.5%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）、全空（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&gt;87.5%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）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”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三类</a:t>
            </a:r>
            <a:endParaRPr lang="zh-CN" altLang="en-US" sz="20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r>
              <a:rPr lang="en-US" altLang="en-US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◦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分配优先级：先选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“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部分树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”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（减少碎片）</a:t>
            </a:r>
            <a:r>
              <a:rPr lang="en-US" altLang="en-US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→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再选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“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全空树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”</a:t>
            </a:r>
            <a:r>
              <a:rPr lang="en-US" altLang="en-US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→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最后选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“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全满树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”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（避免频繁拆分）</a:t>
            </a:r>
            <a:endParaRPr lang="zh-CN" altLang="en-US" sz="20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r>
              <a:rPr lang="en-US" altLang="en-US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◦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锁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- free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保障：通过原子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CAS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操作修改树的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“reserved”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标志，无全局锁竞争</a:t>
            </a:r>
            <a:endParaRPr lang="zh-CN" altLang="en-US" sz="20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endParaRPr lang="zh-CN" altLang="en-US" sz="2000"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l="784" t="2026" r="2702" b="2574"/>
          <a:stretch>
            <a:fillRect/>
          </a:stretch>
        </p:blipFill>
        <p:spPr>
          <a:xfrm>
            <a:off x="6096000" y="1828800"/>
            <a:ext cx="5419090" cy="303085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8299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核心性能</a:t>
            </a:r>
            <a:r>
              <a:rPr lang="zh-CN" alt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结果</a:t>
            </a:r>
            <a:endParaRPr lang="zh-CN" altLang="en-US" sz="4800" b="1" dirty="0">
              <a:solidFill>
                <a:srgbClr val="015DBB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4815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2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flipV="1">
            <a:off x="205998" y="5200433"/>
            <a:ext cx="6159468" cy="1255846"/>
          </a:xfrm>
          <a:prstGeom prst="ellipse">
            <a:avLst/>
          </a:prstGeom>
          <a:solidFill>
            <a:srgbClr val="FBFBFB">
              <a:alpha val="12941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205998" y="5200433"/>
            <a:ext cx="6159468" cy="125584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1916862" y="5436404"/>
            <a:ext cx="2737740" cy="406066"/>
          </a:xfrm>
          <a:prstGeom prst="ellipse">
            <a:avLst/>
          </a:prstGeom>
          <a:solidFill>
            <a:srgbClr val="FBFBFB">
              <a:alpha val="7098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1916862" y="5436404"/>
            <a:ext cx="2737740" cy="40606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0" name="Image 3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2155"/>
            <a:ext cx="12192635" cy="10458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1840" y="481330"/>
            <a:ext cx="89814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性能碾压传统分配器（基于</a:t>
            </a:r>
            <a:r>
              <a:rPr lang="en-US" altLang="zh-CN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26 </a:t>
            </a:r>
            <a:r>
              <a:rPr lang="zh-CN" alt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</a:t>
            </a:r>
            <a:r>
              <a:rPr lang="en-US" altLang="zh-CN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+ 128GiB </a:t>
            </a:r>
            <a:r>
              <a:rPr lang="zh-CN" alt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环境）</a:t>
            </a:r>
            <a:endParaRPr lang="zh-CN" altLang="en-US" sz="3200" b="1" dirty="0">
              <a:solidFill>
                <a:srgbClr val="015DBB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93395" y="1666240"/>
            <a:ext cx="5156200" cy="3985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1. 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并发性能：</a:t>
            </a:r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4KiB 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分配耗时降</a:t>
            </a:r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88%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，</a:t>
            </a:r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2MiB 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降</a:t>
            </a:r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98%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，多核场景下性能基本无衰减；</a:t>
            </a:r>
            <a:endParaRPr lang="zh-CN" altLang="en-US" sz="24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endParaRPr lang="zh-CN" altLang="en-US" sz="24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endParaRPr lang="zh-CN" altLang="en-US" sz="24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2. 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碎片整理：内存压缩所需页移动减少</a:t>
            </a:r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64%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，</a:t>
            </a:r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100 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轮迭代后恢复</a:t>
            </a:r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46.6% 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大页；</a:t>
            </a:r>
            <a:endParaRPr lang="zh-CN" altLang="en-US" sz="24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endParaRPr lang="zh-CN" altLang="en-US" sz="2400"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367145" y="3263265"/>
            <a:ext cx="5448935" cy="585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latin typeface="MiSans" pitchFamily="34" charset="-122"/>
                <a:ea typeface="MiSans" pitchFamily="34" charset="-122"/>
                <a:cs typeface="MiSans" pitchFamily="34" charset="-122"/>
              </a:rPr>
              <a:t>fig.8</a:t>
            </a:r>
            <a:r>
              <a:rPr lang="zh-CN" altLang="en-US" b="1">
                <a:latin typeface="MiSans" pitchFamily="34" charset="-122"/>
                <a:ea typeface="MiSans" pitchFamily="34" charset="-122"/>
                <a:cs typeface="MiSans" pitchFamily="34" charset="-122"/>
              </a:rPr>
              <a:t>：</a:t>
            </a:r>
            <a:r>
              <a:rPr lang="zh-CN" altLang="en-US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并发性能：</a:t>
            </a:r>
            <a:r>
              <a:rPr lang="en-US" altLang="zh-CN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4KiB </a:t>
            </a:r>
            <a:r>
              <a:rPr lang="zh-CN" altLang="en-US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降</a:t>
            </a:r>
            <a:r>
              <a:rPr lang="en-US" altLang="zh-CN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 88%</a:t>
            </a:r>
            <a:r>
              <a:rPr lang="zh-CN" altLang="en-US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，</a:t>
            </a:r>
            <a:r>
              <a:rPr lang="en-US" altLang="zh-CN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2MiB </a:t>
            </a:r>
            <a:r>
              <a:rPr lang="zh-CN" altLang="en-US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降</a:t>
            </a:r>
            <a:r>
              <a:rPr lang="en-US" altLang="zh-CN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 98%</a:t>
            </a:r>
            <a:endParaRPr lang="en-US" altLang="zh-CN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endParaRPr lang="zh-CN" altLang="en-US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pic>
        <p:nvPicPr>
          <p:cNvPr id="8" name="图片 7" descr="屏幕截图 2025-12-08 144657"/>
          <p:cNvPicPr>
            <a:picLocks noChangeAspect="1"/>
          </p:cNvPicPr>
          <p:nvPr/>
        </p:nvPicPr>
        <p:blipFill>
          <a:blip r:embed="rId3"/>
          <a:srcRect l="4607" r="1529"/>
          <a:stretch>
            <a:fillRect/>
          </a:stretch>
        </p:blipFill>
        <p:spPr>
          <a:xfrm>
            <a:off x="5915025" y="1010920"/>
            <a:ext cx="5692140" cy="2273300"/>
          </a:xfrm>
          <a:prstGeom prst="rect">
            <a:avLst/>
          </a:prstGeom>
        </p:spPr>
      </p:pic>
      <p:pic>
        <p:nvPicPr>
          <p:cNvPr id="9" name="图片 8" descr="屏幕截图 2025-12-08 150624"/>
          <p:cNvPicPr>
            <a:picLocks noChangeAspect="1"/>
          </p:cNvPicPr>
          <p:nvPr/>
        </p:nvPicPr>
        <p:blipFill>
          <a:blip r:embed="rId4"/>
          <a:srcRect l="8845" t="9091" b="2806"/>
          <a:stretch>
            <a:fillRect/>
          </a:stretch>
        </p:blipFill>
        <p:spPr>
          <a:xfrm>
            <a:off x="6365240" y="3735705"/>
            <a:ext cx="3719830" cy="191643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546850" y="5735320"/>
            <a:ext cx="4805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fig.10</a:t>
            </a:r>
            <a:r>
              <a:rPr lang="zh-CN" altLang="en-US" b="1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：碎片整理：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页移动</a:t>
            </a:r>
            <a:r>
              <a:rPr lang="zh-CN" altLang="en-US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减 64%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，恢复</a:t>
            </a:r>
            <a:r>
              <a:rPr lang="zh-CN" altLang="en-US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 46.6% </a:t>
            </a:r>
            <a:r>
              <a:rPr lang="zh-CN" altLang="en-US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大页</a:t>
            </a:r>
            <a:endParaRPr lang="zh-CN" altLang="en-US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070" y="4893310"/>
            <a:ext cx="998855" cy="54292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flipV="1">
            <a:off x="205998" y="5200433"/>
            <a:ext cx="6159468" cy="1255846"/>
          </a:xfrm>
          <a:prstGeom prst="ellipse">
            <a:avLst/>
          </a:prstGeom>
          <a:solidFill>
            <a:srgbClr val="FBFBFB">
              <a:alpha val="12941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205998" y="5200433"/>
            <a:ext cx="6159468" cy="125584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1916862" y="5436404"/>
            <a:ext cx="2737740" cy="406066"/>
          </a:xfrm>
          <a:prstGeom prst="ellipse">
            <a:avLst/>
          </a:prstGeom>
          <a:solidFill>
            <a:srgbClr val="FBFBFB">
              <a:alpha val="7098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1916862" y="5436404"/>
            <a:ext cx="2737740" cy="40606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0" name="Image 3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2155"/>
            <a:ext cx="12192635" cy="10458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1840" y="481330"/>
            <a:ext cx="89814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性能碾压传统分配器（基于</a:t>
            </a:r>
            <a:r>
              <a:rPr lang="en-US" altLang="zh-CN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26 </a:t>
            </a:r>
            <a:r>
              <a:rPr lang="zh-CN" alt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</a:t>
            </a:r>
            <a:r>
              <a:rPr lang="en-US" altLang="zh-CN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+ 128GiB </a:t>
            </a:r>
            <a:r>
              <a:rPr lang="zh-CN" alt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环境）</a:t>
            </a:r>
            <a:endParaRPr lang="zh-CN" altLang="en-US" sz="3200" b="1" dirty="0">
              <a:solidFill>
                <a:srgbClr val="015DBB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93395" y="1666875"/>
            <a:ext cx="4160520" cy="415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3. 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资源开销：元数据仅</a:t>
            </a:r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4.1MiB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（</a:t>
            </a:r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Linux Buddy 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为</a:t>
            </a:r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516MiB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），缓存行访问量减少</a:t>
            </a:r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495 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倍；</a:t>
            </a:r>
            <a:endParaRPr lang="zh-CN" altLang="en-US" sz="24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endParaRPr lang="zh-CN" altLang="en-US" sz="24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endParaRPr lang="zh-CN" altLang="en-US" sz="24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4. 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持久化：</a:t>
            </a:r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NVRAM 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场景恢复耗时平均</a:t>
            </a:r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2460μs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，性能接近</a:t>
            </a:r>
            <a:r>
              <a:rPr lang="en-US" altLang="zh-CN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 DRAM</a:t>
            </a:r>
            <a:r>
              <a:rPr lang="zh-CN" altLang="en-US" sz="24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；</a:t>
            </a:r>
            <a:endParaRPr lang="zh-CN" altLang="en-US" sz="24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endParaRPr lang="zh-CN" altLang="en-US"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776720" y="3271520"/>
            <a:ext cx="5033010" cy="532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latin typeface="MiSans" pitchFamily="34" charset="-122"/>
                <a:ea typeface="MiSans" pitchFamily="34" charset="-122"/>
                <a:cs typeface="MiSans" pitchFamily="34" charset="-122"/>
              </a:rPr>
              <a:t>table.1</a:t>
            </a:r>
            <a:r>
              <a:rPr lang="zh-CN" altLang="en-US" b="1">
                <a:latin typeface="MiSans" pitchFamily="34" charset="-122"/>
                <a:ea typeface="MiSans" pitchFamily="34" charset="-122"/>
                <a:cs typeface="MiSans" pitchFamily="34" charset="-122"/>
              </a:rPr>
              <a:t>：</a:t>
            </a: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资源开销</a:t>
            </a:r>
            <a:r>
              <a:rPr lang="zh-CN" altLang="en-US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：元数据</a:t>
            </a:r>
            <a:r>
              <a:rPr lang="en-US" altLang="zh-CN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4.1MiB</a:t>
            </a:r>
            <a:r>
              <a:rPr lang="en-US" altLang="zh-CN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 vs </a:t>
            </a:r>
            <a:r>
              <a:rPr lang="en-US" altLang="zh-CN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516MiB</a:t>
            </a:r>
            <a:endParaRPr lang="en-US" altLang="zh-CN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endParaRPr lang="zh-CN" altLang="en-US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776720" y="6010275"/>
            <a:ext cx="4805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fig.7</a:t>
            </a:r>
            <a:r>
              <a:rPr lang="zh-CN" altLang="en-US" b="1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：持久化：</a:t>
            </a:r>
            <a:r>
              <a:rPr lang="zh-CN" altLang="en-US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恢复耗时</a:t>
            </a:r>
            <a:r>
              <a:rPr lang="en-US" altLang="zh-CN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2460μs</a:t>
            </a:r>
            <a:r>
              <a:rPr lang="zh-CN" altLang="en-US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，接近</a:t>
            </a:r>
            <a:r>
              <a:rPr lang="en-US" altLang="zh-CN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 DRAM</a:t>
            </a:r>
            <a:endParaRPr lang="en-US" altLang="zh-CN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pic>
        <p:nvPicPr>
          <p:cNvPr id="16" name="图片 15" descr="屏幕截图 2025-12-08 150601"/>
          <p:cNvPicPr>
            <a:picLocks noChangeAspect="1"/>
          </p:cNvPicPr>
          <p:nvPr/>
        </p:nvPicPr>
        <p:blipFill>
          <a:blip r:embed="rId3"/>
          <a:srcRect l="5934" t="5410" r="118" b="3716"/>
          <a:stretch>
            <a:fillRect/>
          </a:stretch>
        </p:blipFill>
        <p:spPr>
          <a:xfrm>
            <a:off x="6776720" y="1139190"/>
            <a:ext cx="3751580" cy="1950720"/>
          </a:xfrm>
          <a:prstGeom prst="rect">
            <a:avLst/>
          </a:prstGeom>
        </p:spPr>
      </p:pic>
      <p:pic>
        <p:nvPicPr>
          <p:cNvPr id="20" name="图片 19" descr="屏幕截图 2025-12-08 150648"/>
          <p:cNvPicPr>
            <a:picLocks noChangeAspect="1"/>
          </p:cNvPicPr>
          <p:nvPr/>
        </p:nvPicPr>
        <p:blipFill>
          <a:blip r:embed="rId4"/>
          <a:srcRect l="2759" t="8718" r="3951" b="342"/>
          <a:stretch>
            <a:fillRect/>
          </a:stretch>
        </p:blipFill>
        <p:spPr>
          <a:xfrm>
            <a:off x="6851015" y="3803650"/>
            <a:ext cx="3677285" cy="217360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8299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实现与</a:t>
            </a:r>
            <a:r>
              <a:rPr lang="zh-CN" alt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局限</a:t>
            </a:r>
            <a:endParaRPr lang="zh-CN" altLang="en-US" sz="4800" b="1" dirty="0">
              <a:solidFill>
                <a:srgbClr val="015DBB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4815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2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flipV="1">
            <a:off x="205998" y="5200433"/>
            <a:ext cx="6159468" cy="1255846"/>
          </a:xfrm>
          <a:prstGeom prst="ellipse">
            <a:avLst/>
          </a:prstGeom>
          <a:solidFill>
            <a:srgbClr val="FBFBFB">
              <a:alpha val="12941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205998" y="5200433"/>
            <a:ext cx="6159468" cy="125584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1916862" y="5436404"/>
            <a:ext cx="2737740" cy="406066"/>
          </a:xfrm>
          <a:prstGeom prst="ellipse">
            <a:avLst/>
          </a:prstGeom>
          <a:solidFill>
            <a:srgbClr val="FBFBFB">
              <a:alpha val="7098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1916862" y="5436404"/>
            <a:ext cx="2737740" cy="40606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0" name="Image 3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2155"/>
            <a:ext cx="12192635" cy="10458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1840" y="481330"/>
            <a:ext cx="89814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en-US" altLang="zh-CN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Linux</a:t>
            </a:r>
            <a:r>
              <a:rPr lang="zh-CN" alt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内核集成与应用层</a:t>
            </a:r>
            <a:r>
              <a:rPr lang="zh-CN" alt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现状</a:t>
            </a:r>
            <a:endParaRPr lang="zh-CN" altLang="en-US" sz="3200" b="1" dirty="0">
              <a:solidFill>
                <a:srgbClr val="015DBB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93395" y="1275715"/>
            <a:ext cx="5156200" cy="4007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1.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实现细节：基于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 Rust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开发（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2199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行安全代码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 + 25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行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 unsafe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代码），成功替换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 Linux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原生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 Buddy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分配器；</a:t>
            </a:r>
            <a:endParaRPr lang="zh-CN" altLang="en-US" sz="20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endParaRPr lang="zh-CN" altLang="en-US" sz="20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2.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应用层局限：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memcached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、内存映射等场景无明显性能提升，因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 OS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内存管理其他子系统（如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 LRU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、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mm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锁）成为新瓶颈；</a:t>
            </a:r>
            <a:endParaRPr lang="zh-CN" altLang="en-US" sz="20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endParaRPr lang="zh-CN" altLang="en-US" sz="20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3.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关键发现：页分配器仅占应用运行时的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 5.3%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，其他子系统开销占比超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 40%</a:t>
            </a:r>
            <a:endParaRPr lang="en-US" altLang="zh-CN" sz="2000"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172835" y="4430395"/>
            <a:ext cx="5448935" cy="585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latin typeface="MiSans" pitchFamily="34" charset="-122"/>
                <a:ea typeface="MiSans" pitchFamily="34" charset="-122"/>
                <a:cs typeface="MiSans" pitchFamily="34" charset="-122"/>
              </a:rPr>
              <a:t>fig.13</a:t>
            </a:r>
            <a:r>
              <a:rPr lang="zh-CN" altLang="en-US" b="1">
                <a:latin typeface="MiSans" pitchFamily="34" charset="-122"/>
                <a:ea typeface="MiSans" pitchFamily="34" charset="-122"/>
                <a:cs typeface="MiSans" pitchFamily="34" charset="-122"/>
              </a:rPr>
              <a:t>：</a:t>
            </a:r>
            <a:r>
              <a:rPr lang="zh-CN" altLang="en-US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页分配器仅占应用运行时的</a:t>
            </a:r>
            <a:r>
              <a:rPr lang="en-US" altLang="zh-CN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 5.3%</a:t>
            </a:r>
            <a:r>
              <a:rPr lang="zh-CN" altLang="en-US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，其他子系统开销占比</a:t>
            </a:r>
            <a:r>
              <a:rPr lang="zh-CN" altLang="en-US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超</a:t>
            </a:r>
            <a:r>
              <a:rPr lang="en-US" altLang="zh-CN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 40%</a:t>
            </a:r>
            <a:endParaRPr lang="en-US" altLang="zh-CN">
              <a:solidFill>
                <a:srgbClr val="FF0000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2910" y="5183505"/>
            <a:ext cx="522668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LLFree 解决了分配器本身的瓶颈，为 OS 内存管理栈重构奠定基础！</a:t>
            </a:r>
            <a:endParaRPr lang="zh-CN" altLang="en-US" sz="2000">
              <a:solidFill>
                <a:srgbClr val="FF0000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pic>
        <p:nvPicPr>
          <p:cNvPr id="14" name="图片 13" descr="屏幕截图 2025-12-08 152348"/>
          <p:cNvPicPr>
            <a:picLocks noChangeAspect="1"/>
          </p:cNvPicPr>
          <p:nvPr/>
        </p:nvPicPr>
        <p:blipFill>
          <a:blip r:embed="rId3"/>
          <a:srcRect l="5745" t="11955" r="3291" b="4358"/>
          <a:stretch>
            <a:fillRect/>
          </a:stretch>
        </p:blipFill>
        <p:spPr>
          <a:xfrm>
            <a:off x="6106795" y="2393315"/>
            <a:ext cx="5932170" cy="190246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6:04-d2v63p5nfo2stf9dk59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4975" y="1662430"/>
            <a:ext cx="3255010" cy="443801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6:04-d2v63p5nfo2stf9dk59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9445" y="1651000"/>
            <a:ext cx="3255010" cy="443801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8-12:56:04-d2v63p5nfo2stf9dk59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" y="1662430"/>
            <a:ext cx="3255010" cy="4438015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943100" y="1852930"/>
            <a:ext cx="1071880" cy="1072515"/>
          </a:xfrm>
          <a:prstGeom prst="ellipse">
            <a:avLst/>
          </a:prstGeom>
          <a:solidFill>
            <a:srgbClr val="015DBB"/>
          </a:solidFill>
        </p:spPr>
      </p:sp>
      <p:sp>
        <p:nvSpPr>
          <p:cNvPr id="6" name="Text 1"/>
          <p:cNvSpPr/>
          <p:nvPr/>
        </p:nvSpPr>
        <p:spPr>
          <a:xfrm>
            <a:off x="1943100" y="1852930"/>
            <a:ext cx="1071880" cy="10725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5540375" y="1852930"/>
            <a:ext cx="1071880" cy="1072515"/>
          </a:xfrm>
          <a:prstGeom prst="ellipse">
            <a:avLst/>
          </a:prstGeom>
          <a:solidFill>
            <a:srgbClr val="015DBB"/>
          </a:solidFill>
        </p:spPr>
      </p:sp>
      <p:sp>
        <p:nvSpPr>
          <p:cNvPr id="8" name="Text 3"/>
          <p:cNvSpPr/>
          <p:nvPr/>
        </p:nvSpPr>
        <p:spPr>
          <a:xfrm>
            <a:off x="5540375" y="1852930"/>
            <a:ext cx="1071880" cy="10725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9137650" y="1852930"/>
            <a:ext cx="1071880" cy="1072515"/>
          </a:xfrm>
          <a:prstGeom prst="ellipse">
            <a:avLst/>
          </a:prstGeom>
          <a:solidFill>
            <a:srgbClr val="015DBB"/>
          </a:solidFill>
        </p:spPr>
      </p:sp>
      <p:sp>
        <p:nvSpPr>
          <p:cNvPr id="10" name="Text 5"/>
          <p:cNvSpPr/>
          <p:nvPr/>
        </p:nvSpPr>
        <p:spPr>
          <a:xfrm>
            <a:off x="9137650" y="1852930"/>
            <a:ext cx="1071880" cy="10725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595630" y="525145"/>
            <a:ext cx="819467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Limitations: 端到端瓶颈与内核耦合</a:t>
            </a:r>
            <a:endParaRPr lang="en-US" sz="1600" dirty="0"/>
          </a:p>
        </p:txBody>
      </p:sp>
      <p:pic>
        <p:nvPicPr>
          <p:cNvPr id="12" name="Image 3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63585" y="1651000"/>
            <a:ext cx="4064000" cy="1746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1982590" y="2076518"/>
            <a:ext cx="993526" cy="552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106170" y="3067685"/>
            <a:ext cx="2746375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端到端加速受限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106170" y="3688715"/>
            <a:ext cx="2746375" cy="8576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页故障处理、LRU 和反向映射等仍是主要瓶颈，限制了端到端的整体加速效果。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5579865" y="2076518"/>
            <a:ext cx="993526" cy="552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703445" y="3067685"/>
            <a:ext cx="2746375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内核耦合问题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703445" y="3688715"/>
            <a:ext cx="2746375" cy="8576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Linux 内核高度绑定 Buddy Allocator，全面替换 LLFree 需要系统级重构。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9177140" y="2076518"/>
            <a:ext cx="993526" cy="552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8300720" y="3067685"/>
            <a:ext cx="2746375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未来优化方向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300720" y="3688715"/>
            <a:ext cx="2746375" cy="8576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struct page 仍显繁重，未来可结合 folio 机制进行拆分优化，进一步提升性能。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8299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总结与</a:t>
            </a:r>
            <a:r>
              <a:rPr lang="zh-CN" alt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展望</a:t>
            </a:r>
            <a:endParaRPr lang="zh-CN" altLang="en-US" sz="4800" b="1" dirty="0">
              <a:solidFill>
                <a:srgbClr val="015DBB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4815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2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flipV="1">
            <a:off x="205998" y="5200433"/>
            <a:ext cx="6159468" cy="1255846"/>
          </a:xfrm>
          <a:prstGeom prst="ellipse">
            <a:avLst/>
          </a:prstGeom>
          <a:solidFill>
            <a:srgbClr val="FBFBFB">
              <a:alpha val="12941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205998" y="5200433"/>
            <a:ext cx="6159468" cy="125584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1916862" y="5436404"/>
            <a:ext cx="2737740" cy="406066"/>
          </a:xfrm>
          <a:prstGeom prst="ellipse">
            <a:avLst/>
          </a:prstGeom>
          <a:solidFill>
            <a:srgbClr val="FBFBFB">
              <a:alpha val="7098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1916862" y="5436404"/>
            <a:ext cx="2737740" cy="40606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0" name="Image 3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2155"/>
            <a:ext cx="12192635" cy="10458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55955" y="539115"/>
            <a:ext cx="89814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总结与未来</a:t>
            </a:r>
            <a:r>
              <a:rPr lang="zh-CN" alt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方向</a:t>
            </a:r>
            <a:endParaRPr lang="zh-CN" altLang="en-US" sz="3200" b="1" dirty="0">
              <a:solidFill>
                <a:srgbClr val="015DBB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93395" y="1275715"/>
            <a:ext cx="5156200" cy="4007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  <a:sym typeface="+mn-ea"/>
              </a:rPr>
              <a:t>1.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核心价值：首个无锁无日志、支持持久化的内核页框分配器，适配多核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 + NVRAM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新场景；</a:t>
            </a:r>
            <a:endParaRPr lang="zh-CN" altLang="en-US" sz="20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endParaRPr lang="zh-CN" altLang="en-US" sz="20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2.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关键贡献：提出硬件感知的分配器设计原则，验证了无锁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 +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缓存友好设计的有效性；</a:t>
            </a:r>
            <a:endParaRPr lang="zh-CN" altLang="en-US" sz="20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endParaRPr lang="zh-CN" altLang="en-US" sz="20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3.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未来方向：支持更多帧分类策略、优化应用层适配、推动</a:t>
            </a:r>
            <a:r>
              <a:rPr lang="en-US" altLang="zh-CN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 OS </a:t>
            </a:r>
            <a:r>
              <a:rPr lang="zh-CN" altLang="en-US" sz="2000">
                <a:latin typeface="MiSans" pitchFamily="34" charset="-122"/>
                <a:ea typeface="MiSans" pitchFamily="34" charset="-122"/>
                <a:cs typeface="MiSans" pitchFamily="34" charset="-122"/>
              </a:rPr>
              <a:t>内存管理栈整体重构。</a:t>
            </a:r>
            <a:endParaRPr lang="zh-CN" altLang="en-US" sz="2000"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172835" y="4430395"/>
            <a:ext cx="5448935" cy="585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>
              <a:solidFill>
                <a:srgbClr val="FF0000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81775" y="1978660"/>
            <a:ext cx="5026025" cy="1654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L</a:t>
            </a:r>
            <a:r>
              <a:rPr lang="en-US" altLang="zh-CN" sz="280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LFree </a:t>
            </a:r>
            <a:r>
              <a:rPr lang="zh-CN" altLang="en-US" sz="280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是</a:t>
            </a:r>
            <a:r>
              <a:rPr lang="en-US" altLang="zh-CN" sz="280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 OS </a:t>
            </a:r>
            <a:r>
              <a:rPr lang="zh-CN" altLang="en-US" sz="280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内存管理从</a:t>
            </a:r>
            <a:r>
              <a:rPr lang="en-US" altLang="zh-CN" sz="280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 “60 </a:t>
            </a:r>
            <a:r>
              <a:rPr lang="zh-CN" altLang="en-US" sz="280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年代思想</a:t>
            </a:r>
            <a:r>
              <a:rPr lang="en-US" altLang="zh-CN" sz="280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” </a:t>
            </a:r>
            <a:r>
              <a:rPr lang="zh-CN" altLang="en-US" sz="280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向</a:t>
            </a:r>
            <a:r>
              <a:rPr lang="en-US" altLang="zh-CN" sz="280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 “</a:t>
            </a:r>
            <a:r>
              <a:rPr lang="zh-CN" altLang="en-US" sz="280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现代硬件适配</a:t>
            </a:r>
            <a:r>
              <a:rPr lang="en-US" altLang="zh-CN" sz="280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” </a:t>
            </a:r>
            <a:r>
              <a:rPr lang="zh-CN" altLang="en-US" sz="280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转型的关键一步！</a:t>
            </a:r>
            <a:endParaRPr lang="zh-CN" altLang="en-US" sz="2800">
              <a:solidFill>
                <a:srgbClr val="FF0000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biLevel thresh="75000"/>
          </a:blip>
          <a:srcRect l="27253" t="603" r="38437"/>
          <a:stretch>
            <a:fillRect/>
          </a:stretch>
        </p:blipFill>
        <p:spPr>
          <a:xfrm>
            <a:off x="6899910" y="3959225"/>
            <a:ext cx="3272155" cy="188341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s0.jpg"/>
          <p:cNvPicPr>
            <a:picLocks noChangeAspect="1"/>
          </p:cNvPicPr>
          <p:nvPr/>
        </p:nvPicPr>
        <p:blipFill>
          <a:blip r:embed="rId1"/>
          <a:srcRect l="6625" t="8858" r="11055" b="15857"/>
          <a:stretch>
            <a:fillRect/>
          </a:stretch>
        </p:blipFill>
        <p:spPr>
          <a:xfrm rot="21600000">
            <a:off x="-21590" y="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410" y="2195830"/>
            <a:ext cx="7026275" cy="14452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8800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谢谢</a:t>
            </a:r>
            <a:r>
              <a:rPr lang="zh-CN" altLang="en-US" sz="8800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大家！</a:t>
            </a:r>
            <a:endParaRPr lang="zh-CN" altLang="en-US" sz="8800" dirty="0">
              <a:solidFill>
                <a:srgbClr val="015DBB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70890" y="3501390"/>
            <a:ext cx="471678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 FOR WATCHING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90" y="1730375"/>
            <a:ext cx="6468110" cy="298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3600" y="4795520"/>
            <a:ext cx="2179320" cy="502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28675" y="4847590"/>
            <a:ext cx="224980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报人:Kimi AI</a:t>
            </a:r>
            <a:endParaRPr lang="en-US" sz="1600" dirty="0"/>
          </a:p>
        </p:txBody>
      </p:sp>
      <p:pic>
        <p:nvPicPr>
          <p:cNvPr id="12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/>
          <a:srcRect t="22162"/>
          <a:stretch>
            <a:fillRect/>
          </a:stretch>
        </p:blipFill>
        <p:spPr>
          <a:xfrm>
            <a:off x="7364095" y="1974850"/>
            <a:ext cx="4268470" cy="33235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106.15,&quot;left&quot;:271.25,&quot;top&quot;:344.25,&quot;width&quot;:400.05}"/>
</p:tagLst>
</file>

<file path=ppt/tags/tag2.xml><?xml version="1.0" encoding="utf-8"?>
<p:tagLst xmlns:p="http://schemas.openxmlformats.org/presentationml/2006/main">
  <p:tag name="KSO_WM_DIAGRAM_VIRTUALLY_FRAME" val="{&quot;height&quot;:106.15,&quot;left&quot;:271.25,&quot;top&quot;:344.25,&quot;width&quot;:400.05}"/>
</p:tagLst>
</file>

<file path=ppt/tags/tag3.xml><?xml version="1.0" encoding="utf-8"?>
<p:tagLst xmlns:p="http://schemas.openxmlformats.org/presentationml/2006/main">
  <p:tag name="KSO_WM_DIAGRAM_VIRTUALLY_FRAME" val="{&quot;height&quot;:106.15,&quot;left&quot;:271.25,&quot;top&quot;:344.25,&quot;width&quot;:400.05}"/>
</p:tagLst>
</file>

<file path=ppt/tags/tag4.xml><?xml version="1.0" encoding="utf-8"?>
<p:tagLst xmlns:p="http://schemas.openxmlformats.org/presentationml/2006/main">
  <p:tag name="KSO_WM_DIAGRAM_VIRTUALLY_FRAME" val="{&quot;height&quot;:106.15,&quot;left&quot;:271.25,&quot;top&quot;:344.25,&quot;width&quot;:400.05}"/>
</p:tagLst>
</file>

<file path=ppt/tags/tag5.xml><?xml version="1.0" encoding="utf-8"?>
<p:tagLst xmlns:p="http://schemas.openxmlformats.org/presentationml/2006/main">
  <p:tag name="KSO_WM_DIAGRAM_VIRTUALLY_FRAME" val="{&quot;height&quot;:39.6,&quot;left&quot;:272.1,&quot;top&quot;:348.35,&quot;width&quot;:396.95}"/>
</p:tagLst>
</file>

<file path=ppt/tags/tag6.xml><?xml version="1.0" encoding="utf-8"?>
<p:tagLst xmlns:p="http://schemas.openxmlformats.org/presentationml/2006/main">
  <p:tag name="KSO_WM_DIAGRAM_VIRTUALLY_FRAME" val="{&quot;height&quot;:39.6,&quot;left&quot;:272.1,&quot;top&quot;:348.35,&quot;width&quot;:396.95}"/>
</p:tagLst>
</file>

<file path=ppt/tags/tag7.xml><?xml version="1.0" encoding="utf-8"?>
<p:tagLst xmlns:p="http://schemas.openxmlformats.org/presentationml/2006/main">
  <p:tag name="KSO_WM_DIAGRAM_VIRTUALLY_FRAME" val="{&quot;height&quot;:39.6,&quot;left&quot;:272.1,&quot;top&quot;:348.35,&quot;width&quot;:396.95}"/>
</p:tagLst>
</file>

<file path=ppt/tags/tag8.xml><?xml version="1.0" encoding="utf-8"?>
<p:tagLst xmlns:p="http://schemas.openxmlformats.org/presentationml/2006/main">
  <p:tag name="KSO_WM_DIAGRAM_VIRTUALLY_FRAME" val="{&quot;height&quot;:312.0781102362204,&quot;left&quot;:73.8,&quot;top&quot;:139.95,&quot;width&quot;:581.05}"/>
</p:tagLst>
</file>

<file path=ppt/tags/tag9.xml><?xml version="1.0" encoding="utf-8"?>
<p:tagLst xmlns:p="http://schemas.openxmlformats.org/presentationml/2006/main">
  <p:tag name="KSO_WM_DIAGRAM_VIRTUALLY_FRAME" val="{&quot;height&quot;:312.0781102362204,&quot;left&quot;:73.8,&quot;top&quot;:139.95,&quot;width&quot;:581.05}"/>
</p:tagLst>
</file>

<file path=ppt/tags/tag10.xml><?xml version="1.0" encoding="utf-8"?>
<p:tagLst xmlns:p="http://schemas.openxmlformats.org/presentationml/2006/main">
  <p:tag name="KSO_WM_DIAGRAM_VIRTUALLY_FRAME" val="{&quot;height&quot;:312.0781102362204,&quot;left&quot;:73.8,&quot;top&quot;:139.95,&quot;width&quot;:581.05}"/>
</p:tagLst>
</file>

<file path=ppt/tags/tag11.xml><?xml version="1.0" encoding="utf-8"?>
<p:tagLst xmlns:p="http://schemas.openxmlformats.org/presentationml/2006/main">
  <p:tag name="KSO_WM_DIAGRAM_VIRTUALLY_FRAME" val="{&quot;height&quot;:312.0781102362204,&quot;left&quot;:73.8,&quot;top&quot;:139.95,&quot;width&quot;:581.05}"/>
</p:tagLst>
</file>

<file path=ppt/tags/tag12.xml><?xml version="1.0" encoding="utf-8"?>
<p:tagLst xmlns:p="http://schemas.openxmlformats.org/presentationml/2006/main">
  <p:tag name="KSO_WM_DIAGRAM_VIRTUALLY_FRAME" val="{&quot;height&quot;:312.0781102362204,&quot;left&quot;:73.8,&quot;top&quot;:139.95,&quot;width&quot;:581.05}"/>
</p:tagLst>
</file>

<file path=ppt/tags/tag13.xml><?xml version="1.0" encoding="utf-8"?>
<p:tagLst xmlns:p="http://schemas.openxmlformats.org/presentationml/2006/main">
  <p:tag name="KSO_WM_DIAGRAM_VIRTUALLY_FRAME" val="{&quot;height&quot;:312.0781102362204,&quot;left&quot;:73.8,&quot;top&quot;:139.95,&quot;width&quot;:581.05}"/>
</p:tagLst>
</file>

<file path=ppt/tags/tag14.xml><?xml version="1.0" encoding="utf-8"?>
<p:tagLst xmlns:p="http://schemas.openxmlformats.org/presentationml/2006/main">
  <p:tag name="KSO_WM_DIAGRAM_VIRTUALLY_FRAME" val="{&quot;height&quot;:312.0781102362204,&quot;left&quot;:73.8,&quot;top&quot;:139.95,&quot;width&quot;:581.05}"/>
</p:tagLst>
</file>

<file path=ppt/tags/tag15.xml><?xml version="1.0" encoding="utf-8"?>
<p:tagLst xmlns:p="http://schemas.openxmlformats.org/presentationml/2006/main">
  <p:tag name="KSO_WM_DIAGRAM_VIRTUALLY_FRAME" val="{&quot;height&quot;:312.0781102362204,&quot;left&quot;:73.8,&quot;top&quot;:139.95,&quot;width&quot;:581.05}"/>
</p:tagLst>
</file>

<file path=ppt/tags/tag16.xml><?xml version="1.0" encoding="utf-8"?>
<p:tagLst xmlns:p="http://schemas.openxmlformats.org/presentationml/2006/main">
  <p:tag name="KSO_WM_DIAGRAM_VIRTUALLY_FRAME" val="{&quot;height&quot;:312.0781102362204,&quot;left&quot;:73.8,&quot;top&quot;:139.95,&quot;width&quot;:581.05}"/>
</p:tagLst>
</file>

<file path=ppt/tags/tag17.xml><?xml version="1.0" encoding="utf-8"?>
<p:tagLst xmlns:p="http://schemas.openxmlformats.org/presentationml/2006/main">
  <p:tag name="KSO_WM_DIAGRAM_VIRTUALLY_FRAME" val="{&quot;height&quot;:312.0781102362204,&quot;left&quot;:73.8,&quot;top&quot;:139.95,&quot;width&quot;:581.05}"/>
</p:tagLst>
</file>

<file path=ppt/tags/tag18.xml><?xml version="1.0" encoding="utf-8"?>
<p:tagLst xmlns:p="http://schemas.openxmlformats.org/presentationml/2006/main">
  <p:tag name="KSO_WM_DIAGRAM_VIRTUALLY_FRAME" val="{&quot;height&quot;:312.0781102362204,&quot;left&quot;:73.8,&quot;top&quot;:139.95,&quot;width&quot;:581.05}"/>
</p:tagLst>
</file>

<file path=ppt/tags/tag19.xml><?xml version="1.0" encoding="utf-8"?>
<p:tagLst xmlns:p="http://schemas.openxmlformats.org/presentationml/2006/main">
  <p:tag name="KSO_WM_DIAGRAM_VIRTUALLY_FRAME" val="{&quot;height&quot;:312.0781102362204,&quot;left&quot;:73.8,&quot;top&quot;:139.95,&quot;width&quot;:581.05}"/>
</p:tagLst>
</file>

<file path=ppt/tags/tag20.xml><?xml version="1.0" encoding="utf-8"?>
<p:tagLst xmlns:p="http://schemas.openxmlformats.org/presentationml/2006/main">
  <p:tag name="KSO_WM_DIAGRAM_VIRTUALLY_FRAME" val="{&quot;height&quot;:312.0781102362204,&quot;left&quot;:73.8,&quot;top&quot;:139.95,&quot;width&quot;:581.05}"/>
</p:tagLst>
</file>

<file path=ppt/tags/tag21.xml><?xml version="1.0" encoding="utf-8"?>
<p:tagLst xmlns:p="http://schemas.openxmlformats.org/presentationml/2006/main">
  <p:tag name="KSO_WM_DIAGRAM_VIRTUALLY_FRAME" val="{&quot;height&quot;:312.0781102362204,&quot;left&quot;:73.8,&quot;top&quot;:139.95,&quot;width&quot;:581.05}"/>
</p:tagLst>
</file>

<file path=ppt/tags/tag22.xml><?xml version="1.0" encoding="utf-8"?>
<p:tagLst xmlns:p="http://schemas.openxmlformats.org/presentationml/2006/main">
  <p:tag name="KSO_WM_DIAGRAM_VIRTUALLY_FRAME" val="{&quot;height&quot;:312.0781102362204,&quot;left&quot;:73.8,&quot;top&quot;:139.95,&quot;width&quot;:581.05}"/>
</p:tagLst>
</file>

<file path=ppt/tags/tag23.xml><?xml version="1.0" encoding="utf-8"?>
<p:tagLst xmlns:p="http://schemas.openxmlformats.org/presentationml/2006/main">
  <p:tag name="KSO_WM_DIAGRAM_VIRTUALLY_FRAME" val="{&quot;height&quot;:312.0781102362204,&quot;left&quot;:73.8,&quot;top&quot;:139.95,&quot;width&quot;:581.05}"/>
</p:tagLst>
</file>

<file path=ppt/tags/tag24.xml><?xml version="1.0" encoding="utf-8"?>
<p:tagLst xmlns:p="http://schemas.openxmlformats.org/presentationml/2006/main">
  <p:tag name="KSO_WM_DIAGRAM_VIRTUALLY_FRAME" val="{&quot;height&quot;:312.0781102362204,&quot;left&quot;:73.8,&quot;top&quot;:139.95,&quot;width&quot;:581.05}"/>
</p:tagLst>
</file>

<file path=ppt/tags/tag25.xml><?xml version="1.0" encoding="utf-8"?>
<p:tagLst xmlns:p="http://schemas.openxmlformats.org/presentationml/2006/main">
  <p:tag name="KSO_WM_DIAGRAM_VIRTUALLY_FRAME" val="{&quot;height&quot;:312.0781102362204,&quot;left&quot;:73.8,&quot;top&quot;:139.95,&quot;width&quot;:581.05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2730</Words>
  <Application>WPS 演示</Application>
  <PresentationFormat>On-screen Show (16:9)</PresentationFormat>
  <Paragraphs>193</Paragraphs>
  <Slides>19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宋体</vt:lpstr>
      <vt:lpstr>Wingdings</vt:lpstr>
      <vt:lpstr>MiSans</vt:lpstr>
      <vt:lpstr>MiSans</vt:lpstr>
      <vt:lpstr>Calibri</vt:lpstr>
      <vt:lpstr>微软雅黑</vt:lpstr>
      <vt:lpstr>Arial Unicode MS</vt:lpstr>
      <vt:lpstr>等线</vt:lpstr>
      <vt:lpstr>Malgun Gothic Semilight</vt:lpstr>
      <vt:lpstr>ui-sans-serif</vt:lpstr>
      <vt:lpstr>Segoe Print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LLFree: 可扩展无锁页框分配新思路</dc:title>
  <dc:creator>Kimi</dc:creator>
  <dc:subject>LLFree: 可扩展无锁页框分配新思路</dc:subject>
  <cp:lastModifiedBy>禹相祐</cp:lastModifiedBy>
  <cp:revision>95</cp:revision>
  <dcterms:created xsi:type="dcterms:W3CDTF">2025-12-05T02:34:00Z</dcterms:created>
  <dcterms:modified xsi:type="dcterms:W3CDTF">2025-12-08T08:05:38Z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{"Label":"LLFree: 可扩展无锁页框分配新思路","ContentProducer":"001191110108MACG2KBH8F10000","ProduceID":"d4p48r31cvfbqbnqmmgg","ReservedCode1":"","ContentPropagator":"001191110108MACG2KBH8F20000","PropagateID":"d4p48r31cvfbqbnqmmgg","ReservedCode2":""}</vt:lpwstr>
  </property>
  <property fmtid="{D5CDD505-2E9C-101B-9397-08002B2CF9AE}" pid="3" name="ICV">
    <vt:lpwstr>5FBA8D792452440EB59B0F15BCF476E3_13</vt:lpwstr>
  </property>
  <property fmtid="{D5CDD505-2E9C-101B-9397-08002B2CF9AE}" pid="4" name="KSOProductBuildVer">
    <vt:lpwstr>2052-12.1.0.23125</vt:lpwstr>
  </property>
</Properties>
</file>